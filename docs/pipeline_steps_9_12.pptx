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463040"/>
            <a:ext cx="11777472" cy="25603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3773"/>
                </a:solidFill>
                <a:latin typeface="Calibri"/>
              </a:rPr>
              <a:t>Melbourne CBD Curbside Reallocation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3347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285AA0"/>
                </a:solidFill>
                <a:latin typeface="Calibri"/>
              </a:rPr>
              <a:t>Steps 9 - 12: Training, Interpretation, Scenario Simulation &amp;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78"/>
                </a:solidFill>
                <a:latin typeface="Calibri"/>
              </a:rPr>
              <a:t>Master's Thesis  |  Spatio-Temporal GNN  |  Melbourne CBD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92040"/>
            <a:ext cx="2377440" cy="804672"/>
          </a:xfrm>
          <a:prstGeom prst="rect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956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STEP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2395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4892040"/>
            <a:ext cx="2377440" cy="804672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4956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STEP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52395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INTERPRET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892040"/>
            <a:ext cx="2377440" cy="804672"/>
          </a:xfrm>
          <a:prstGeom prst="rect">
            <a:avLst/>
          </a:prstGeom>
          <a:solidFill>
            <a:srgbClr val="466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4956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STEP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52395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4892040"/>
            <a:ext cx="2377440" cy="804672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4956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STEP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52395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773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3773"/>
                </a:solidFill>
                <a:latin typeface="Calibri"/>
              </a:rPr>
              <a:t>Steps 9 - 12: What Each Step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7878"/>
                </a:solidFill>
                <a:latin typeface="Calibri"/>
              </a:rPr>
              <a:t>Post-training phase — model learns, interprets, simulates, and exports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1417320" cy="1005840"/>
          </a:xfrm>
          <a:prstGeom prst="rect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813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STEP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79222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99616"/>
            <a:ext cx="9875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Calibri"/>
              </a:rPr>
              <a:t>Trains the MultiGCN spatio-temporal GNN on the assembled data cube. Produces the trained model checkpoint used by all downstream steps.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51760"/>
            <a:ext cx="1417320" cy="100584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743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STEP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05409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INTERPRET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761488"/>
            <a:ext cx="9875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Calibri"/>
              </a:rPr>
              <a:t>Quantifies which of the 23 input features the model actually relies on (permutation importance) and compares the contribution of spatial vs. semantic graph branches.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913631"/>
            <a:ext cx="1417320" cy="1005840"/>
          </a:xfrm>
          <a:prstGeom prst="rect">
            <a:avLst/>
          </a:prstGeom>
          <a:solidFill>
            <a:srgbClr val="466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4005071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STEP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315967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023359"/>
            <a:ext cx="9875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Calibri"/>
              </a:rPr>
              <a:t>Runs counterfactual rollouts: baseline vs. treated (e.g. pedestrianise a street). Reports pedestrian flow delta on the target street and network-wide spillover across all 1,397 streets.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175504"/>
            <a:ext cx="1417320" cy="10058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52669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STEP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5577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285232"/>
            <a:ext cx="9875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3C3C"/>
                </a:solidFill>
                <a:latin typeface="Calibri"/>
              </a:rPr>
              <a:t>Enriches GeoJSON with opportunity scores and writes frontend-ready JSON files for the Mapbox GL JS visualisation.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773"/>
                </a:solidFill>
                <a:latin typeface="Calibri"/>
              </a:rPr>
              <a:t>STEP 09  |  TRAIN  |  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3773"/>
                </a:solidFill>
                <a:latin typeface="Calibri"/>
              </a:rPr>
              <a:t>MultiGCN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7878"/>
                </a:solidFill>
                <a:latin typeface="Calibri"/>
              </a:rPr>
              <a:t>GRU encoder + dual GCNConv branches (spatial + semantic) + per-node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7589520" cy="4937760"/>
          </a:xfrm>
          <a:prstGeom prst="rect">
            <a:avLst/>
          </a:prstGeom>
          <a:solidFill>
            <a:srgbClr val="F5F5F5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389888"/>
            <a:ext cx="7370064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82828"/>
                </a:solidFill>
                <a:latin typeface="Courier New"/>
              </a:rPr>
              <a:t>Input:  [B, W, N, F]    B=batch  W=96 timesteps  N=1,397 streets  F=23 features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Spatial branch:   proj_s   (F=23 -&gt; H=64)  -&gt;  ReLU( adj_spatial  @ proj_s(x)  )   [K, N, 64]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Semantic branch:  proj_sem (F=23 -&gt; H=64)  -&gt;  ReLU( adj_semantic @ proj_sem(x))   [K, N, 64]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Concatenate both branches:  [K, N, 128]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Reshape to:                 [B, W, N, 128]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Dropout(p=0.10)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GRU:  input=128, hidden=64, layers=2, batch_first=True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   Applied per-node:  [B x N, W, 128]  -&gt;  final hidden state  [B, N, 64]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Linear:  64  -&gt;  1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+ node_bias [N, 1]   (one learned offset per street)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Output: [B, N, 1]   (predicted ped_flow, z-score normalised)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2984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Key design choices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609344"/>
            <a:ext cx="3749039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719072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50">
                <a:solidFill>
                  <a:srgbClr val="3C3C3C"/>
                </a:solidFill>
                <a:latin typeface="Calibri"/>
              </a:rPr>
              <a:t>Dual GCN runs at EVERY timestep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50">
                <a:solidFill>
                  <a:srgbClr val="3C3C3C"/>
                </a:solidFill>
                <a:latin typeface="Calibri"/>
              </a:rPr>
              <a:t>  -&gt; GRU gets spatially-aware input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50">
                <a:solidFill>
                  <a:srgbClr val="3C3C3C"/>
                </a:solidFill>
                <a:latin typeface="Calibri"/>
              </a:rPr>
              <a:t>  -&gt; not just spatial features at start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50">
                <a:solidFill>
                  <a:srgbClr val="3C3C3C"/>
                </a:solidFill>
                <a:latin typeface="Calibri"/>
              </a:rPr>
              <a:t/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50">
                <a:solidFill>
                  <a:srgbClr val="3C3C3C"/>
                </a:solidFill>
                <a:latin typeface="Calibri"/>
              </a:rPr>
              <a:t>Per-node bias = highest single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50">
                <a:solidFill>
                  <a:srgbClr val="3C3C3C"/>
                </a:solidFill>
                <a:latin typeface="Calibri"/>
              </a:rPr>
              <a:t>  improvement for R2 on heterogeneous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50">
                <a:solidFill>
                  <a:srgbClr val="3C3C3C"/>
                </a:solidFill>
                <a:latin typeface="Calibri"/>
              </a:rPr>
              <a:t>  streets (busy vs. quiet)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50">
                <a:solidFill>
                  <a:srgbClr val="3C3C3C"/>
                </a:solidFill>
                <a:latin typeface="Calibri"/>
              </a:rPr>
              <a:t/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50">
                <a:solidFill>
                  <a:srgbClr val="3C3C3C"/>
                </a:solidFill>
                <a:latin typeface="Calibri"/>
              </a:rPr>
              <a:t>GRU compresses W=96 steps (24h)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50">
                <a:solidFill>
                  <a:srgbClr val="3C3C3C"/>
                </a:solidFill>
                <a:latin typeface="Calibri"/>
              </a:rPr>
              <a:t>  into a single hidden state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50">
                <a:solidFill>
                  <a:srgbClr val="3C3C3C"/>
                </a:solidFill>
                <a:latin typeface="Calibri"/>
              </a:rPr>
              <a:t/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50">
                <a:solidFill>
                  <a:srgbClr val="3C3C3C"/>
                </a:solidFill>
                <a:latin typeface="Calibri"/>
              </a:rPr>
              <a:t>~100,000 trainable parameters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773"/>
                </a:solidFill>
                <a:latin typeface="Calibri"/>
              </a:rPr>
              <a:t>STEP 09  |  TRAIN  |  training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3773"/>
                </a:solidFill>
                <a:latin typeface="Calibri"/>
              </a:rPr>
              <a:t>Training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7878"/>
                </a:solidFill>
                <a:latin typeface="Calibri"/>
              </a:rPr>
              <a:t>Chronological split, MAE loss, early stopping on validation MAE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Data split (chronological, no leakage)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36776"/>
            <a:ext cx="5303520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7680960" cy="640080"/>
          </a:xfrm>
          <a:prstGeom prst="rect">
            <a:avLst/>
          </a:prstGeom>
          <a:solidFill>
            <a:srgbClr val="D0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1000" y="1783080"/>
            <a:ext cx="1645920" cy="640080"/>
          </a:xfrm>
          <a:prstGeom prst="rect">
            <a:avLst/>
          </a:prstGeom>
          <a:solidFill>
            <a:srgbClr val="FF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783080"/>
            <a:ext cx="2221992" cy="64008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3773"/>
                </a:solidFill>
                <a:latin typeface="Calibri"/>
              </a:rPr>
              <a:t>TRAIN  (70%)   bins 0 - 10,079   Nov 2025 - early Feb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874519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6000"/>
                </a:solidFill>
                <a:latin typeface="Calibri"/>
              </a:rPr>
              <a:t>VAL  (15%)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4352" y="1874519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4A"/>
                </a:solidFill>
                <a:latin typeface="Calibri"/>
              </a:rPr>
              <a:t>TEST  (15%)  held-out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606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Hyperparameters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16936"/>
            <a:ext cx="5303520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035808"/>
            <a:ext cx="2267712" cy="96012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3090672"/>
            <a:ext cx="2084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5AA0"/>
                </a:solidFill>
                <a:latin typeface="Calibri"/>
              </a:rPr>
              <a:t>Batch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3346704"/>
            <a:ext cx="2084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8 windows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3035808"/>
            <a:ext cx="2267712" cy="96012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7208" y="3090672"/>
            <a:ext cx="2084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5AA0"/>
                </a:solidFill>
                <a:latin typeface="Calibri"/>
              </a:rPr>
              <a:t>Steps / epoch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3346704"/>
            <a:ext cx="2084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256 gradient steps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3035808"/>
            <a:ext cx="2267712" cy="96012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84648" y="3090672"/>
            <a:ext cx="2084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5AA0"/>
                </a:solidFill>
                <a:latin typeface="Calibri"/>
              </a:rPr>
              <a:t>Window 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4648" y="3346704"/>
            <a:ext cx="2084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96 bins  (24 hours)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3035808"/>
            <a:ext cx="2267712" cy="96012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3090672"/>
            <a:ext cx="2084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5AA0"/>
                </a:solidFill>
                <a:latin typeface="Calibri"/>
              </a:rPr>
              <a:t>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3346704"/>
            <a:ext cx="2084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MAE on z-score target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29800" y="3035808"/>
            <a:ext cx="2267712" cy="96012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39528" y="3090672"/>
            <a:ext cx="2084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5AA0"/>
                </a:solidFill>
                <a:latin typeface="Calibri"/>
              </a:rPr>
              <a:t>Optimiser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9528" y="3346704"/>
            <a:ext cx="2084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Adam  lr = 1e-3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133087"/>
            <a:ext cx="2267712" cy="96012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4187951"/>
            <a:ext cx="2084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5AA0"/>
                </a:solidFill>
                <a:latin typeface="Calibri"/>
              </a:rPr>
              <a:t>LR scheduler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" y="4443983"/>
            <a:ext cx="2084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ReduceLROnPlateau
factor=0.5, patience=8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4133087"/>
            <a:ext cx="2267712" cy="96012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07208" y="4187951"/>
            <a:ext cx="2084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5AA0"/>
                </a:solidFill>
                <a:latin typeface="Calibri"/>
              </a:rPr>
              <a:t>Grad clip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07208" y="4443983"/>
            <a:ext cx="2084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max norm 1.0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74920" y="4133087"/>
            <a:ext cx="2267712" cy="96012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84648" y="4187951"/>
            <a:ext cx="2084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5AA0"/>
                </a:solidFill>
                <a:latin typeface="Calibri"/>
              </a:rPr>
              <a:t>Early stopping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4648" y="4443983"/>
            <a:ext cx="2084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patience=25 epochs
on val MAE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4133087"/>
            <a:ext cx="2267712" cy="96012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62088" y="4187951"/>
            <a:ext cx="2084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5AA0"/>
                </a:solidFill>
                <a:latin typeface="Calibri"/>
              </a:rPr>
              <a:t>Seed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2088" y="4443983"/>
            <a:ext cx="2084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42 (fully reproducible)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29800" y="4133087"/>
            <a:ext cx="2267712" cy="96012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39528" y="4187951"/>
            <a:ext cx="2084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5AA0"/>
                </a:solidFill>
                <a:latin typeface="Calibri"/>
              </a:rPr>
              <a:t>Device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39528" y="4443983"/>
            <a:ext cx="2084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CUDA if available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523036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Outputs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541264"/>
            <a:ext cx="11521440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5650992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data/models/best_model.pt  -  trained MultiGCN checkpoint (weights at best val MAE)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data/models/model_eval.json  -  val MAE, val RMSE, val R2, test MAE, test RMSE, test R2, full training loss history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data/processed/cube_meta.json  -  updated with T_train_end, T_val_start, T_val_end indices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5AA0"/>
                </a:solidFill>
                <a:latin typeface="Calibri"/>
              </a:rPr>
              <a:t>STEP 10  |  INTERPRET  |  permutation importance + branch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3773"/>
                </a:solidFill>
                <a:latin typeface="Calibri"/>
              </a:rPr>
              <a:t>Feature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7878"/>
                </a:solidFill>
                <a:latin typeface="Calibri"/>
              </a:rPr>
              <a:t>Which of the 23 features does the model actually rely on? How much does each graph branch contribute?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Permutation Importance (23 features)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36776"/>
            <a:ext cx="5486400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19072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For each feature i = 0 .. 22: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1. Load val-period windows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2. Replace feature i with N(0,1) Gaussian noise (in normalised input space)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3. Measure MAE on perturbed data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4. importance_i = perturbed_MAE - baseline_MAE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   (positive = model relied on this feature;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    destroying it increases error)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5. Repeat 3 times, report mean delta-MAE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/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Features sorted descending by importance.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Features near 0 delta are not used by the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1152144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298448"/>
            <a:ext cx="27432" cy="521208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258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Branch Contribution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36776"/>
            <a:ext cx="5577840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19072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For each GCN branch (spatial, semantic):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1. Zero all weights of that branch's projection layer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   (proj_s or proj_sem)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2. Measure MAE with the branch disabled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3. branch_delta_MAE = disabled_MAE - baseline_MAE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4. Restore original weights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/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Interpretation: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Large delta  -&gt;  branch carries critical information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Near-zero    -&gt;  branch redundant (other branch compensates)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/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Spatial branch  = local neighbourhood context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Semantic branch = functionally similar streets (same land use)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577840"/>
            <a:ext cx="11521440" cy="914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650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773"/>
                </a:solidFill>
                <a:latin typeface="Calibri"/>
              </a:rPr>
              <a:t>Output: data/models/feature_importance.json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43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baseline_mae  |  feature_importance: { feature_name: delta_MAE, ... } sorted descending  |  branch_contribution: { spatial: delta, semantic: delta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66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6EC0"/>
                </a:solidFill>
                <a:latin typeface="Calibri"/>
              </a:rPr>
              <a:t>STEP 11  |  SCENARIO  |  counterfactual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3773"/>
                </a:solidFill>
                <a:latin typeface="Calibri"/>
              </a:rPr>
              <a:t>Scenario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7878"/>
                </a:solidFill>
                <a:latin typeface="Calibri"/>
              </a:rPr>
              <a:t>Predict pedestrian flow impact of a parking intervention on a specific street + time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Intervention types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36776"/>
            <a:ext cx="3474720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37360"/>
            <a:ext cx="365760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7922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pedestrianise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39696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Set target street occupancy_rate = 0
(full removal of parking)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737360"/>
            <a:ext cx="3657600" cy="118872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7" y="17922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restrict_park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7" y="2139696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Set occupancy_rate = magnitude
(e.g. 0.3 = allow only 30% use)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737360"/>
            <a:ext cx="3657600" cy="11887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7" y="17922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boost_ped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7" y="2139696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Add a raw pedestrian uplift
(ped / 15-min) to predicted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090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Autoregressive rollout logic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01568"/>
            <a:ext cx="5852160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520440"/>
            <a:ext cx="5989320" cy="3127248"/>
          </a:xfrm>
          <a:prstGeom prst="rect">
            <a:avLst/>
          </a:prstGeom>
          <a:solidFill>
            <a:srgbClr val="F5F5F5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611880"/>
            <a:ext cx="5769864" cy="2944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82828"/>
                </a:solidFill>
                <a:latin typeface="Courier New"/>
              </a:rPr>
              <a:t>Initialise: sliding window [W=96 real steps before t_start]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For each rollout step k: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1. Forward pass  -&gt;  model predicts ped_flow for all 1,397 streets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2. Build next_row from real observed features (weather, time, occ, static)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3. Override ped_flow with model prediction  (autoregressive feedback)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4. If k is inside intervention window: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  apply intervention encoding on target street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5. If parking removed AND adj_spatial available: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  redistribute displaced occupancy to spatial neighbours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6. Append next_row, pop oldest from window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Run TWICE: baseline (no change) and treated (with intervention)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delta = treated - baseline  at every (step, street) pair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09067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Two-rollout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3401568"/>
            <a:ext cx="5349240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520440"/>
            <a:ext cx="534924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BASELINE rollout: real data, no change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-&gt; predicted ped_flow for all streets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/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TREATED rollout: same data +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intervention applied to target street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-&gt; counterfactual ped_flow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/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delta = treated - baseline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-&gt; isolates the intervention effect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-&gt; controls for weather, time-of-day,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   and seasonal trends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/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Both rollouts use same real features.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Only the intervention encoding differs.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66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6EC0"/>
                </a:solidFill>
                <a:latin typeface="Calibri"/>
              </a:rPr>
              <a:t>STEP 11  |  SCENARIO  |  network spillover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3773"/>
                </a:solidFill>
                <a:latin typeface="Calibri"/>
              </a:rPr>
              <a:t>5 Network Analysis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7878"/>
                </a:solidFill>
                <a:latin typeface="Calibri"/>
              </a:rPr>
              <a:t>How intervention effects propagate across 1,397 streets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53312"/>
            <a:ext cx="3749039" cy="239572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53312"/>
            <a:ext cx="3749039" cy="365760"/>
          </a:xfrm>
          <a:prstGeom prst="rect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99032"/>
            <a:ext cx="3611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1  Parking Displacement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92224"/>
            <a:ext cx="352043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When parking is removed from the target street,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displaced occupancy is redistributed to spatial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neighbours proportional to edge weight.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Capped at 100% occupancy per neighbour.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-&gt; Neighbouring streets see realistic input changes.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8536" y="1353312"/>
            <a:ext cx="3749039" cy="239572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88536" y="1353312"/>
            <a:ext cx="3749039" cy="3657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399032"/>
            <a:ext cx="3611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2  Graph Diffusion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1792224"/>
            <a:ext cx="352043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Analytically propagates mean_delta through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row-normalised adjacency matrices: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  k=1, 2, 3 hops  (A^k @ mean_delta)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Reports top-5 streets per hop for both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spatial and semantic graphs.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-&gt; Complements autoregressive estimate.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57031" y="1353312"/>
            <a:ext cx="3749039" cy="239572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7031" y="1353312"/>
            <a:ext cx="3749039" cy="365760"/>
          </a:xfrm>
          <a:prstGeom prst="rect">
            <a:avLst/>
          </a:prstGeom>
          <a:solidFill>
            <a:srgbClr val="466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399032"/>
            <a:ext cx="3611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3  Semantic Neighbour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1" y="1792224"/>
            <a:ext cx="352043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Reports delta on functionally similar streets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(same land-use profile, semantic graph edges).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These streets may be spatially distant.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-&gt; Captures non-local demand shifts where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   displaced users travel to similar streets.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59352"/>
            <a:ext cx="3749039" cy="239572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959352"/>
            <a:ext cx="3749039" cy="365760"/>
          </a:xfrm>
          <a:prstGeom prst="rect">
            <a:avLst/>
          </a:prstGeom>
          <a:solidFill>
            <a:srgbClr val="705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005072"/>
            <a:ext cx="3611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4  Confidence-Weighted 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98264"/>
            <a:ext cx="352043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top_affected streets ranked by: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  delta x ped_confidence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Sensor streets (conf=1.0) ranked above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imputed streets (conf=0.5) for same delta.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-&gt; Avoids promoting noisy imputed streets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   over reliable sensor observations.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8536" y="3959352"/>
            <a:ext cx="3749039" cy="239572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88536" y="3959352"/>
            <a:ext cx="3749039" cy="3657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9976" y="4005072"/>
            <a:ext cx="3611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5  Rebound / Half-Life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4398264"/>
            <a:ext cx="352043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After intervention ends, measures: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  - Steps until |delta| drops to 50%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    of its end-of-intervention value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  - Recovery fraction at final rollout step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Per-street half-life in steps and minutes.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00">
                <a:solidFill>
                  <a:srgbClr val="3C3C3C"/>
                </a:solidFill>
                <a:latin typeface="Calibri"/>
              </a:rPr>
              <a:t>-&gt; Characterises persistence of effect.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66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6EC0"/>
                </a:solidFill>
                <a:latin typeface="Calibri"/>
              </a:rPr>
              <a:t>STEP 11  |  SCENARIO  |  output structure +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3773"/>
                </a:solidFill>
                <a:latin typeface="Calibri"/>
              </a:rPr>
              <a:t>Scenario Output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7878"/>
                </a:solidFill>
                <a:latin typeface="Calibri"/>
              </a:rPr>
              <a:t>Saved as JSON; also returned live via the Flask API (Step 11 API server)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6995160" cy="5230368"/>
          </a:xfrm>
          <a:prstGeom prst="rect">
            <a:avLst/>
          </a:prstGeom>
          <a:solidFill>
            <a:srgbClr val="F5F5F5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463040"/>
            <a:ext cx="6775704" cy="5047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82828"/>
                </a:solidFill>
                <a:latin typeface="Courier New"/>
              </a:rPr>
              <a:t>{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"meta":    { street_id, t_start_bin, duration_bins, rollout_steps, intervention_type }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"baseline":{ ped_flow_treated_street, occ_rate_observed }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"treated": { ped_flow_treated_street }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"delta":   { ped_flow_treated_street, top_affected_series }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"network_summary": {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"treated_street":      { mean_delta, cumulative_delta, ped_confidence }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"spatial_neighbours":  [ { street_id, mean_delta, confidence_weighted_delta } ]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"semantic_neighbours": [ { street_id, mean_delta, confidence_weighted_delta } ]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"top_affected":        [ { street_id, mean_delta, is_treated,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                          is_spatial_neighbour, is_semantic_neighbour } ]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"graph_diffusion":     { "spatial": [...k=1,2,3 top-5...],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                        "semantic": [...k=1,2,3 top-5...] }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"rebound":             { "treated_street": { half_life_steps, peak_delta,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                          recovery_fraction },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                        "slowest_to_recover": [...] }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"all_deltas":          { street_id: { mean_ped_delta,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                          confidence_weighted_delta, ped_confidence } }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}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3716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CLI usage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682496"/>
            <a:ext cx="4389120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783080"/>
            <a:ext cx="4389120" cy="1965960"/>
          </a:xfrm>
          <a:prstGeom prst="rect">
            <a:avLst/>
          </a:prstGeom>
          <a:solidFill>
            <a:srgbClr val="F5F5F5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7807" y="1874520"/>
            <a:ext cx="4169664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82828"/>
                </a:solidFill>
                <a:latin typeface="Courier New"/>
              </a:rPr>
              <a:t>python melbourne_pipeline/steps/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step_11_scenario.py \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--street STREET_ID \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--start BIN_INDEX \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--duration BINS \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--rollout STEPS \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--intervention pedestrianise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9319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API (Flask, port 5050)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4242816"/>
            <a:ext cx="4389120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4343400"/>
            <a:ext cx="438912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7" y="4434840"/>
            <a:ext cx="4169664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82828"/>
                </a:solidFill>
                <a:latin typeface="Courier New"/>
              </a:rPr>
              <a:t>POST http://127.0.0.1:5050/scenario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{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"street_id": "21373",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"intervention_type": "pedestrianise",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"duration": 16,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"rollout_steps": 32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87878"/>
                </a:solidFill>
                <a:latin typeface="Calibri"/>
              </a:rPr>
              <a:t>Recommended test streets: 21373 (highest pedestrian flow), 21123, 22619  |  Use high-occupancy streets to observe meaningful deltas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66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6EC0"/>
                </a:solidFill>
                <a:latin typeface="Calibri"/>
              </a:rPr>
              <a:t>STEP 11b  |  OPPORTUNITIES  |  composite intervention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3773"/>
                </a:solidFill>
                <a:latin typeface="Calibri"/>
              </a:rPr>
              <a:t>Opportunity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7878"/>
                </a:solidFill>
                <a:latin typeface="Calibri"/>
              </a:rPr>
              <a:t>Ranks all 1,397 streets by their suitability for curbside reallocation intervention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533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Composite Opportunity Score  (0 - 1)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64208"/>
            <a:ext cx="6400800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11521440" cy="1572768"/>
          </a:xfrm>
          <a:prstGeom prst="rect">
            <a:avLst/>
          </a:prstGeom>
          <a:solidFill>
            <a:srgbClr val="F5F5F5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874520"/>
            <a:ext cx="11301984" cy="138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82828"/>
                </a:solidFill>
                <a:latin typeface="Courier New"/>
              </a:rPr>
              <a:t>score = 0.35 x score_ped        (predicted pedestrian flow, normalised by max)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 + 0.25 x score_parking    (1 - mean_occupancy: low parking = more space)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 + 0.20 x score_archetype  (GMM cluster confidence from Step 07)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 + 0.10 x score_confidence (data source: sensor=1.0 / imputed R2&gt;=0.6=0.8)</a:t>
            </a:r>
          </a:p>
          <a:p>
            <a:r>
              <a:rPr sz="950">
                <a:solidFill>
                  <a:srgbClr val="282828"/>
                </a:solidFill>
                <a:latin typeface="Courier New"/>
              </a:rPr>
              <a:t>      + 0.10 x score_uplift     (counterfactual uplift fraction)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520440"/>
            <a:ext cx="4032503" cy="548640"/>
          </a:xfrm>
          <a:prstGeom prst="rect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611880"/>
            <a:ext cx="395935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142232"/>
            <a:ext cx="40325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C3C3C"/>
                </a:solidFill>
                <a:latin typeface="Calibri"/>
              </a:rPr>
              <a:t>Pedestrian
demand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2544" y="3520440"/>
            <a:ext cx="2880360" cy="54864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264" y="3611880"/>
            <a:ext cx="2807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4142232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C3C3C"/>
                </a:solidFill>
                <a:latin typeface="Calibri"/>
              </a:rPr>
              <a:t>Parking
availability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32904" y="3520440"/>
            <a:ext cx="2304288" cy="548640"/>
          </a:xfrm>
          <a:prstGeom prst="rect">
            <a:avLst/>
          </a:prstGeom>
          <a:solidFill>
            <a:srgbClr val="466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78624" y="3611880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2904" y="414223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C3C3C"/>
                </a:solidFill>
                <a:latin typeface="Calibri"/>
              </a:rPr>
              <a:t>Archetype
confidence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37192" y="3520440"/>
            <a:ext cx="1152144" cy="54864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2912" y="361188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4142232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C3C3C"/>
                </a:solidFill>
                <a:latin typeface="Calibri"/>
              </a:rPr>
              <a:t>Data
confidence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89336" y="3520440"/>
            <a:ext cx="1152144" cy="54864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35056" y="361188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9336" y="4142232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C3C3C"/>
                </a:solidFill>
                <a:latin typeface="Calibri"/>
              </a:rPr>
              <a:t>Predicted
uplift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31596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Counterfactual uplift computation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626864"/>
            <a:ext cx="5943600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718304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Run 8 randomly sampled val-period windows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Set occupancy_rate = 0 for ALL streets simultaneously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Measure mean predicted pedestrian uplift vs. baseline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uplift_fraction = (cf_ped_mean - pred_ped_mean) / (pred_ped_mean + 1e-6)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3159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Outputs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626864"/>
            <a:ext cx="5394960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718304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street_scores.parquet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street_id, opportunity_score, pred_ped_mean,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uplift_fraction, cf_ped_mean, cluster, ...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/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opportunities.json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100">
                <a:solidFill>
                  <a:srgbClr val="3C3C3C"/>
                </a:solidFill>
                <a:latin typeface="Calibri"/>
              </a:rPr>
              <a:t>   Top-ranked streets with all score components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3C3C"/>
                </a:solidFill>
                <a:latin typeface="Calibri"/>
              </a:rPr>
              <a:t>STEP 12  |  EXPORT  |  GeoJSON + JSON for Mapbox GL 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3773"/>
                </a:solidFill>
                <a:latin typeface="Calibri"/>
              </a:rPr>
              <a:t>Frontend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7878"/>
                </a:solidFill>
                <a:latin typeface="Calibri"/>
              </a:rPr>
              <a:t>Enriches spatial data with pipeline outputs ready for sensor_map_viz.html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5331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64208"/>
            <a:ext cx="11521440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502920" cy="1143000"/>
          </a:xfrm>
          <a:prstGeom prst="rect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1305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83080"/>
            <a:ext cx="11045952" cy="1143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87452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773"/>
                </a:solidFill>
                <a:latin typeface="Calibri"/>
              </a:rPr>
              <a:t>Join opportunity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2219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C3C3C"/>
                </a:solidFill>
                <a:latin typeface="Calibri"/>
              </a:rPr>
              <a:t>Loads street_scores.parquet. Joins: opportunity_score, pred_ped_mean, uplift_fraction,
cf_ped_mean onto each feature in streets_viz.geojson (in-place enrichment).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108960"/>
            <a:ext cx="502920" cy="1143000"/>
          </a:xfrm>
          <a:prstGeom prst="rect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4564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108960"/>
            <a:ext cx="11045952" cy="1143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20040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773"/>
                </a:solidFill>
                <a:latin typeface="Calibri"/>
              </a:rPr>
              <a:t>Write opportunities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5478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C3C3C"/>
                </a:solidFill>
                <a:latin typeface="Calibri"/>
              </a:rPr>
              <a:t>Writes opportunities_summary.json -- top-50 streets per archetype with key metrics.
Used by the frontend dropdown filters.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434840"/>
            <a:ext cx="502920" cy="1143000"/>
          </a:xfrm>
          <a:prstGeom prst="rect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7823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434840"/>
            <a:ext cx="11045952" cy="1143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452628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773"/>
                </a:solidFill>
                <a:latin typeface="Calibri"/>
              </a:rPr>
              <a:t>Copy model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87375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C3C3C"/>
                </a:solidFill>
                <a:latin typeface="Calibri"/>
              </a:rPr>
              <a:t>Copies model_eval.json from data/models/ to data/processed/ so the frontend
can read val/test MAE, RMSE, R2 without knowing the models directory.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7332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Output files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6044184"/>
            <a:ext cx="11521440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12648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50">
                <a:solidFill>
                  <a:srgbClr val="3C3C3C"/>
                </a:solidFill>
                <a:latin typeface="Calibri"/>
              </a:rPr>
              <a:t>data/processed/streets_viz.geojson         Enriched street polygons (WGS84) with all pipeline scores for Mapbox rendering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50">
                <a:solidFill>
                  <a:srgbClr val="3C3C3C"/>
                </a:solidFill>
                <a:latin typeface="Calibri"/>
              </a:rPr>
              <a:t>data/processed/opportunities_summary.json  Top-50 streets per archetype -- cluster label, opportunity_score, pred_ped_mean, uplift_fraction</a:t>
            </a:r>
          </a:p>
          <a:p>
            <a:pPr>
              <a:spcBef>
                <a:spcPts val="0"/>
              </a:spcBef>
              <a:spcAft>
                <a:spcPts val="120"/>
              </a:spcAft>
            </a:pPr>
            <a:r>
              <a:rPr sz="1050">
                <a:solidFill>
                  <a:srgbClr val="3C3C3C"/>
                </a:solidFill>
                <a:latin typeface="Calibri"/>
              </a:rPr>
              <a:t>data/processed/model_eval.json             Copied model performance metrics  (val/test MAE, RMSE, R2, training history)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773"/>
                </a:solidFill>
                <a:latin typeface="Calibri"/>
              </a:rPr>
              <a:t>SUMMARY  |  Steps 9 - 12 data flow and key 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3773"/>
                </a:solidFill>
                <a:latin typeface="Calibri"/>
              </a:rPr>
              <a:t>Summary: Steps 9 - 12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7878"/>
                </a:solidFill>
                <a:latin typeface="Calibri"/>
              </a:rPr>
              <a:t>From trained weights to interactive intervention explorer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5331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Data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64208"/>
            <a:ext cx="5943600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810512"/>
            <a:ext cx="2103120" cy="77724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901952"/>
            <a:ext cx="19933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C3C3C"/>
                </a:solidFill>
                <a:latin typeface="Calibri"/>
              </a:rPr>
              <a:t>cube.npy
graph_spatial.pt
graph_semantic.pt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066544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87878"/>
                </a:solidFill>
                <a:latin typeface="Calibri"/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810512"/>
            <a:ext cx="2103120" cy="777240"/>
          </a:xfrm>
          <a:prstGeom prst="rect">
            <a:avLst/>
          </a:prstGeom>
          <a:solidFill>
            <a:srgbClr val="0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4912" y="1901952"/>
            <a:ext cx="19933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Step 09
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66544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87878"/>
                </a:solidFill>
                <a:latin typeface="Calibri"/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79" y="1810512"/>
            <a:ext cx="2103120" cy="77724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6631" y="1901952"/>
            <a:ext cx="19933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C3C3C"/>
                </a:solidFill>
                <a:latin typeface="Calibri"/>
              </a:rPr>
              <a:t>best_model.pt
model_eval.json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599" y="2066544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87878"/>
                </a:solidFill>
                <a:latin typeface="Calibri"/>
              </a:rP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199" y="1810512"/>
            <a:ext cx="2103120" cy="77724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8351" y="1901952"/>
            <a:ext cx="19933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Step 10
INTERPRET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2066544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87878"/>
                </a:solidFill>
                <a:latin typeface="Calibri"/>
              </a:rPr>
              <a:t>-&gt;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19" y="1810512"/>
            <a:ext cx="2103120" cy="77724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20071" y="1901952"/>
            <a:ext cx="19933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C3C3C"/>
                </a:solidFill>
                <a:latin typeface="Calibri"/>
              </a:rPr>
              <a:t>feature_importance.json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39312"/>
            <a:ext cx="2103120" cy="77724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3730752"/>
            <a:ext cx="19933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C3C3C"/>
                </a:solidFill>
                <a:latin typeface="Calibri"/>
              </a:rPr>
              <a:t>best_model.pt
cube.npy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3895344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87878"/>
                </a:solidFill>
                <a:latin typeface="Calibri"/>
              </a:rPr>
              <a:t>-&gt;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639312"/>
            <a:ext cx="2103120" cy="777240"/>
          </a:xfrm>
          <a:prstGeom prst="rect">
            <a:avLst/>
          </a:prstGeom>
          <a:solidFill>
            <a:srgbClr val="466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24912" y="3730752"/>
            <a:ext cx="19933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Step 11
SCENARIO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895344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87878"/>
                </a:solidFill>
                <a:latin typeface="Calibri"/>
              </a:rPr>
              <a:t>-&gt;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79" y="3639312"/>
            <a:ext cx="2103120" cy="77724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56631" y="3730752"/>
            <a:ext cx="19933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C3C3C"/>
                </a:solidFill>
                <a:latin typeface="Calibri"/>
              </a:rPr>
              <a:t>scenario JSON
all_deltas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599" y="3895344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87878"/>
                </a:solidFill>
                <a:latin typeface="Calibri"/>
              </a:rPr>
              <a:t>-&gt;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199" y="3639312"/>
            <a:ext cx="210312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88351" y="3730752"/>
            <a:ext cx="19933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Step 12
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19" y="3895344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87878"/>
                </a:solidFill>
                <a:latin typeface="Calibri"/>
              </a:rPr>
              <a:t>-&gt;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19" y="3639312"/>
            <a:ext cx="2103120" cy="77724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20071" y="3730752"/>
            <a:ext cx="19933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C3C3C"/>
                </a:solidFill>
                <a:latin typeface="Calibri"/>
              </a:rPr>
              <a:t>streets_viz.geojson
opportunities_summary.json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546811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5AA0"/>
                </a:solidFill>
                <a:latin typeface="Calibri"/>
              </a:rPr>
              <a:t>Key numbers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779008"/>
            <a:ext cx="11521440" cy="22860"/>
          </a:xfrm>
          <a:prstGeom prst="rect">
            <a:avLst/>
          </a:prstGeom>
          <a:solidFill>
            <a:srgbClr val="2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5897880"/>
            <a:ext cx="1828800" cy="73152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" y="59527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5AA0"/>
                </a:solidFill>
                <a:latin typeface="Calibri"/>
              </a:rPr>
              <a:t>Model params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" y="620877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~100,000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04288" y="5897880"/>
            <a:ext cx="1828800" cy="73152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14016" y="59527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5AA0"/>
                </a:solidFill>
                <a:latin typeface="Calibri"/>
              </a:rPr>
              <a:t>Training windows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14016" y="620877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~2,560 / epoch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88536" y="5897880"/>
            <a:ext cx="1828800" cy="73152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98264" y="59527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5AA0"/>
                </a:solidFill>
                <a:latin typeface="Calibri"/>
              </a:rPr>
              <a:t>Inference 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98264" y="620877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~200 ms per scenario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72783" y="5897880"/>
            <a:ext cx="1828800" cy="73152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82511" y="59527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5AA0"/>
                </a:solidFill>
                <a:latin typeface="Calibri"/>
              </a:rPr>
              <a:t>Network coverage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2511" y="620877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1,397 streets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57031" y="5897880"/>
            <a:ext cx="1828800" cy="73152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59" y="59527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5AA0"/>
                </a:solidFill>
                <a:latin typeface="Calibri"/>
              </a:rPr>
              <a:t>Rollout steps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59" y="620877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32 - 96 typical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41280" y="5897880"/>
            <a:ext cx="1828800" cy="731520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51008" y="59527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5AA0"/>
                </a:solidFill>
                <a:latin typeface="Calibri"/>
              </a:rPr>
              <a:t>Confidence tiers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51008" y="620877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1.0 / 0.8 / 0.5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